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 (USD)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Jobscan</c:v>
                  </c:pt>
                  <c:pt idx="1">
                    <c:v>TealHQ</c:v>
                  </c:pt>
                  <c:pt idx="2">
                    <c:v>Interview Prep</c:v>
                  </c:pt>
                  <c:pt idx="3">
                    <c:v>AI Career Mentor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29</c:v>
                </c:pt>
                <c:pt idx="2">
                  <c:v>220</c:v>
                </c:pt>
                <c:pt idx="3">
                  <c:v>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62E4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EC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9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B0F19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1.png"/><Relationship Id="rId7" Type="http://schemas.openxmlformats.org/officeDocument/2006/relationships/image" Target="../media/image-3-2.png"/><Relationship Id="rId8" Type="http://schemas.openxmlformats.org/officeDocument/2006/relationships/image" Target="../media/image-3-2.png"/><Relationship Id="rId9" Type="http://schemas.openxmlformats.org/officeDocument/2006/relationships/image" Target="../media/image-3-2.png"/><Relationship Id="rId10" Type="http://schemas.openxmlformats.org/officeDocument/2006/relationships/image" Target="../media/image-3-2.png"/><Relationship Id="rId11" Type="http://schemas.openxmlformats.org/officeDocument/2006/relationships/image" Target="../media/image-3-2.png"/><Relationship Id="rId12" Type="http://schemas.openxmlformats.org/officeDocument/2006/relationships/image" Target="../media/image-3-1.png"/><Relationship Id="rId13" Type="http://schemas.openxmlformats.org/officeDocument/2006/relationships/image" Target="../media/image-3-2.png"/><Relationship Id="rId14" Type="http://schemas.openxmlformats.org/officeDocument/2006/relationships/image" Target="../media/image-3-2.png"/><Relationship Id="rId15" Type="http://schemas.openxmlformats.org/officeDocument/2006/relationships/image" Target="../media/image-3-2.png"/><Relationship Id="rId16" Type="http://schemas.openxmlformats.org/officeDocument/2006/relationships/image" Target="../media/image-3-2.png"/><Relationship Id="rId17" Type="http://schemas.openxmlformats.org/officeDocument/2006/relationships/image" Target="../media/image-3-2.png"/><Relationship Id="rId18" Type="http://schemas.openxmlformats.org/officeDocument/2006/relationships/image" Target="../media/image-3-1.png"/><Relationship Id="rId19" Type="http://schemas.openxmlformats.org/officeDocument/2006/relationships/image" Target="../media/image-3-2.png"/><Relationship Id="rId20" Type="http://schemas.openxmlformats.org/officeDocument/2006/relationships/image" Target="../media/image-3-2.png"/><Relationship Id="rId21" Type="http://schemas.openxmlformats.org/officeDocument/2006/relationships/image" Target="../media/image-3-2.png"/><Relationship Id="rId22" Type="http://schemas.openxmlformats.org/officeDocument/2006/relationships/image" Target="../media/image-3-2.png"/><Relationship Id="rId23" Type="http://schemas.openxmlformats.org/officeDocument/2006/relationships/image" Target="../media/image-3-2.png"/><Relationship Id="rId24" Type="http://schemas.openxmlformats.org/officeDocument/2006/relationships/image" Target="../media/image-3-2.png"/><Relationship Id="rId25" Type="http://schemas.openxmlformats.org/officeDocument/2006/relationships/image" Target="../media/image-3-1.png"/><Relationship Id="rId26" Type="http://schemas.openxmlformats.org/officeDocument/2006/relationships/image" Target="../media/image-3-26.png"/><Relationship Id="rId27" Type="http://schemas.openxmlformats.org/officeDocument/2006/relationships/image" Target="../media/image-3-26.png"/><Relationship Id="rId28" Type="http://schemas.openxmlformats.org/officeDocument/2006/relationships/image" Target="../media/image-3-26.png"/><Relationship Id="rId29" Type="http://schemas.openxmlformats.org/officeDocument/2006/relationships/image" Target="../media/image-3-26.png"/><Relationship Id="rId30" Type="http://schemas.openxmlformats.org/officeDocument/2006/relationships/image" Target="../media/image-3-26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4.png"/><Relationship Id="rId8" Type="http://schemas.openxmlformats.org/officeDocument/2006/relationships/image" Target="../media/image-5-2.png"/><Relationship Id="rId9" Type="http://schemas.openxmlformats.org/officeDocument/2006/relationships/image" Target="../media/image-5-5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6.png"/><Relationship Id="rId8" Type="http://schemas.openxmlformats.org/officeDocument/2006/relationships/image" Target="../media/image-12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5120640"/>
            <a:ext cx="5029200" cy="50292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8132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ORCHESTRATION OPERATING SYSTEM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73936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276148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Core AI Pillars.  1 Complete Career Transformation.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82112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production-grade platform that unifies resume auditing, personalized learning, live market intelligence, LinkedIn optimization, and streaming mock interviews into one LangGraph-orchestrated pipeline.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913632"/>
            <a:ext cx="4434840" cy="512064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262E4D"/>
            </a:solidFill>
            <a:prstDash val="solid"/>
          </a:ln>
        </p:spPr>
      </p:sp>
      <p:pic>
        <p:nvPicPr>
          <p:cNvPr id="9" name="Image 0" descr="/home/claude/assets/icons/brain_818C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338" y="404164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5522" y="3913632"/>
            <a:ext cx="38251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Full Career Analysis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394960" y="3913632"/>
            <a:ext cx="4434840" cy="512064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262E4D"/>
            </a:solidFill>
            <a:prstDash val="solid"/>
          </a:ln>
        </p:spPr>
      </p:sp>
      <p:pic>
        <p:nvPicPr>
          <p:cNvPr id="12" name="Image 1" descr="/home/claude/assets/icons/mic_34D39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38" y="404164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67522" y="3913632"/>
            <a:ext cx="38251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Streaming Mock Interviewer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" y="4590288"/>
            <a:ext cx="10561320" cy="731520"/>
          </a:xfrm>
          <a:prstGeom prst="roundRect">
            <a:avLst>
              <a:gd name="adj" fmla="val 11250"/>
            </a:avLst>
          </a:prstGeom>
          <a:solidFill>
            <a:srgbClr val="0E1424"/>
          </a:solidFill>
          <a:ln w="12700">
            <a:solidFill>
              <a:srgbClr val="262E4D"/>
            </a:solidFill>
            <a:prstDash val="solid"/>
          </a:ln>
        </p:spPr>
      </p:sp>
      <p:pic>
        <p:nvPicPr>
          <p:cNvPr id="15" name="Image 2" descr="/home/claude/assets/icons/times_F0575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79145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81328" y="459028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resumes silently dropped by ATS</a:t>
            </a:r>
            <a:endParaRPr lang="en-US" sz="1150" dirty="0"/>
          </a:p>
        </p:txBody>
      </p:sp>
      <p:pic>
        <p:nvPicPr>
          <p:cNvPr id="17" name="Image 3" descr="/home/claude/assets/icons/dollar_F59E0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79145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01768" y="459028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$300+/mo in fragmented SaaS tools</a:t>
            </a:r>
            <a:endParaRPr lang="en-US" sz="1150" dirty="0"/>
          </a:p>
        </p:txBody>
      </p:sp>
      <p:pic>
        <p:nvPicPr>
          <p:cNvPr id="19" name="Image 4" descr="/home/claude/assets/icons/check_34D39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791456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522208" y="459028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free, unified, open-source here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822960" y="5504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822960" y="5779008"/>
            <a:ext cx="911657" cy="347472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822960" y="5779008"/>
            <a:ext cx="9116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1862633" y="5779008"/>
            <a:ext cx="741578" cy="347472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862633" y="5779008"/>
            <a:ext cx="7415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2732227" y="5779008"/>
            <a:ext cx="996696" cy="347472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732227" y="5779008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856939" y="5779008"/>
            <a:ext cx="486461" cy="347472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856939" y="5779008"/>
            <a:ext cx="4864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471416" y="5779008"/>
            <a:ext cx="996696" cy="347472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471416" y="5779008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5596128" y="5779008"/>
            <a:ext cx="571500" cy="347472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596128" y="5779008"/>
            <a:ext cx="571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295644" y="5779008"/>
            <a:ext cx="826618" cy="347472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295644" y="5779008"/>
            <a:ext cx="82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7250278" y="5779008"/>
            <a:ext cx="656539" cy="347472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250278" y="5779008"/>
            <a:ext cx="6565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Pradhan · AI Systems Engineer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·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Alex: A Developer's Frustrating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32104" y="1874520"/>
            <a:ext cx="10497312" cy="0"/>
          </a:xfrm>
          <a:prstGeom prst="line">
            <a:avLst/>
          </a:prstGeom>
          <a:noFill/>
          <a:ln w="25400">
            <a:solidFill>
              <a:srgbClr val="262E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9626" y="1591056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/home/claude/assets/icons/f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027" y="173845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86000"/>
            <a:ext cx="26289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542032"/>
            <a:ext cx="2628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Applications, 0 Callbacks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3072384"/>
            <a:ext cx="24825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polished, but silently dropped by automated ATS filters.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91406" y="1591056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/home/claude/assets/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807" y="173845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60420" y="2286000"/>
            <a:ext cx="26289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60420" y="2542032"/>
            <a:ext cx="2628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Disconnected Roadmaps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33572" y="3072384"/>
            <a:ext cx="24825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"Learn React" checklists ignore Alex's real skill gaps &amp; local market.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203186" y="1591056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/home/claude/assets/icons/doll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587" y="173845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286000"/>
            <a:ext cx="26289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72200" y="2542032"/>
            <a:ext cx="2628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$300+/mo Tool Sprawl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45352" y="3072384"/>
            <a:ext cx="24825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Jobscan + Teal + Interviewing.io — none of them share context.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10014966" y="1591056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/home/claude/assets/icons/comment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367" y="1738457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83980" y="2286000"/>
            <a:ext cx="26289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983980" y="2542032"/>
            <a:ext cx="26289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Freezes in Live Interviews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057132" y="3072384"/>
            <a:ext cx="248259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flashcards can't ask about Alex's actual projects.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224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REALITY, IN NUMBERS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4572000"/>
            <a:ext cx="2628900" cy="1691640"/>
          </a:xfrm>
          <a:prstGeom prst="roundRect">
            <a:avLst>
              <a:gd name="adj" fmla="val 4865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85800" y="4736592"/>
            <a:ext cx="23545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400" dirty="0"/>
          </a:p>
        </p:txBody>
      </p:sp>
      <p:sp>
        <p:nvSpPr>
          <p:cNvPr id="28" name="Text 22"/>
          <p:cNvSpPr/>
          <p:nvPr/>
        </p:nvSpPr>
        <p:spPr>
          <a:xfrm>
            <a:off x="685800" y="5440680"/>
            <a:ext cx="23545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silently dropped by ATS parsers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85800" y="5971032"/>
            <a:ext cx="2354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Jobscan, 2024–25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3360420" y="4572000"/>
            <a:ext cx="2628900" cy="1691640"/>
          </a:xfrm>
          <a:prstGeom prst="roundRect">
            <a:avLst>
              <a:gd name="adj" fmla="val 4865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497580" y="4736592"/>
            <a:ext cx="23545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mo</a:t>
            </a:r>
            <a:endParaRPr lang="en-US" sz="3400" dirty="0"/>
          </a:p>
        </p:txBody>
      </p:sp>
      <p:sp>
        <p:nvSpPr>
          <p:cNvPr id="32" name="Text 26"/>
          <p:cNvSpPr/>
          <p:nvPr/>
        </p:nvSpPr>
        <p:spPr>
          <a:xfrm>
            <a:off x="3497580" y="5440680"/>
            <a:ext cx="23545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tech job search duration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497580" y="5971032"/>
            <a:ext cx="2354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Hiring Reports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6172200" y="4572000"/>
            <a:ext cx="2628900" cy="1691640"/>
          </a:xfrm>
          <a:prstGeom prst="roundRect">
            <a:avLst>
              <a:gd name="adj" fmla="val 4865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09360" y="4736592"/>
            <a:ext cx="23545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</a:t>
            </a:r>
            <a:endParaRPr lang="en-US" sz="3400" dirty="0"/>
          </a:p>
        </p:txBody>
      </p:sp>
      <p:sp>
        <p:nvSpPr>
          <p:cNvPr id="36" name="Text 30"/>
          <p:cNvSpPr/>
          <p:nvPr/>
        </p:nvSpPr>
        <p:spPr>
          <a:xfrm>
            <a:off x="6309360" y="5440680"/>
            <a:ext cx="23545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competing per open role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6309360" y="5971032"/>
            <a:ext cx="2354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Dice.com / LinkedIn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8983980" y="4572000"/>
            <a:ext cx="2628900" cy="1691640"/>
          </a:xfrm>
          <a:prstGeom prst="roundRect">
            <a:avLst>
              <a:gd name="adj" fmla="val 4865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121140" y="4736592"/>
            <a:ext cx="23545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$300+</a:t>
            </a:r>
            <a:endParaRPr lang="en-US" sz="3400" dirty="0"/>
          </a:p>
        </p:txBody>
      </p:sp>
      <p:sp>
        <p:nvSpPr>
          <p:cNvPr id="40" name="Text 34"/>
          <p:cNvSpPr/>
          <p:nvPr/>
        </p:nvSpPr>
        <p:spPr>
          <a:xfrm>
            <a:off x="9121140" y="5440680"/>
            <a:ext cx="23545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across fragmented SaaS tools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9121140" y="5971032"/>
            <a:ext cx="2354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Pricing, 2025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·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Solves This End-to-End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178040" cy="512064"/>
          </a:xfrm>
          <a:prstGeom prst="roundRect">
            <a:avLst>
              <a:gd name="adj" fmla="val 16071"/>
            </a:avLst>
          </a:prstGeom>
          <a:solidFill>
            <a:srgbClr val="0E1424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08760"/>
            <a:ext cx="1856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14600" y="1508760"/>
            <a:ext cx="10424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57016" y="1508760"/>
            <a:ext cx="10424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99432" y="1508760"/>
            <a:ext cx="10424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41848" y="1508760"/>
            <a:ext cx="10424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84264" y="1508760"/>
            <a:ext cx="10424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020824"/>
            <a:ext cx="7178040" cy="512064"/>
          </a:xfrm>
          <a:prstGeom prst="roundRect">
            <a:avLst>
              <a:gd name="adj" fmla="val 16071"/>
            </a:avLst>
          </a:prstGeom>
          <a:solidFill>
            <a:srgbClr val="161B2E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020824"/>
            <a:ext cx="1856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Jobscan</a:t>
            </a:r>
            <a:endParaRPr lang="en-US" sz="1050" dirty="0"/>
          </a:p>
        </p:txBody>
      </p:sp>
      <p:pic>
        <p:nvPicPr>
          <p:cNvPr id="13" name="Image 0" descr="/home/claude/assets/icons/check_34D3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5224" y="2176272"/>
            <a:ext cx="201168" cy="201168"/>
          </a:xfrm>
          <a:prstGeom prst="rect">
            <a:avLst/>
          </a:prstGeom>
        </p:spPr>
      </p:pic>
      <p:pic>
        <p:nvPicPr>
          <p:cNvPr id="14" name="Image 1" descr="/home/claude/assets/icons/times_6B74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176272"/>
            <a:ext cx="201168" cy="201168"/>
          </a:xfrm>
          <a:prstGeom prst="rect">
            <a:avLst/>
          </a:prstGeom>
        </p:spPr>
      </p:pic>
      <p:pic>
        <p:nvPicPr>
          <p:cNvPr id="15" name="Image 2" descr="/home/claude/assets/icons/times_6B748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2176272"/>
            <a:ext cx="201168" cy="201168"/>
          </a:xfrm>
          <a:prstGeom prst="rect">
            <a:avLst/>
          </a:prstGeom>
        </p:spPr>
      </p:pic>
      <p:pic>
        <p:nvPicPr>
          <p:cNvPr id="16" name="Image 3" descr="/home/claude/assets/icons/times_6B748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2176272"/>
            <a:ext cx="201168" cy="201168"/>
          </a:xfrm>
          <a:prstGeom prst="rect">
            <a:avLst/>
          </a:prstGeom>
        </p:spPr>
      </p:pic>
      <p:pic>
        <p:nvPicPr>
          <p:cNvPr id="17" name="Image 4" descr="/home/claude/assets/icons/times_6B748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2176272"/>
            <a:ext cx="201168" cy="20116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48640" y="2532888"/>
            <a:ext cx="7178040" cy="512064"/>
          </a:xfrm>
          <a:prstGeom prst="roundRect">
            <a:avLst>
              <a:gd name="adj" fmla="val 16071"/>
            </a:avLst>
          </a:prstGeom>
          <a:solidFill>
            <a:srgbClr val="0E1424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658368" y="2532888"/>
            <a:ext cx="1856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TealHQ</a:t>
            </a:r>
            <a:endParaRPr lang="en-US" sz="1050" dirty="0"/>
          </a:p>
        </p:txBody>
      </p:sp>
      <p:pic>
        <p:nvPicPr>
          <p:cNvPr id="20" name="Image 5" descr="/home/claude/assets/icons/check_34D39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5224" y="2688336"/>
            <a:ext cx="201168" cy="201168"/>
          </a:xfrm>
          <a:prstGeom prst="rect">
            <a:avLst/>
          </a:prstGeom>
        </p:spPr>
      </p:pic>
      <p:pic>
        <p:nvPicPr>
          <p:cNvPr id="21" name="Image 6" descr="/home/claude/assets/icons/times_6B748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40" y="2688336"/>
            <a:ext cx="201168" cy="201168"/>
          </a:xfrm>
          <a:prstGeom prst="rect">
            <a:avLst/>
          </a:prstGeom>
        </p:spPr>
      </p:pic>
      <p:pic>
        <p:nvPicPr>
          <p:cNvPr id="22" name="Image 7" descr="/home/claude/assets/icons/times_6B748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0056" y="2688336"/>
            <a:ext cx="201168" cy="201168"/>
          </a:xfrm>
          <a:prstGeom prst="rect">
            <a:avLst/>
          </a:prstGeom>
        </p:spPr>
      </p:pic>
      <p:pic>
        <p:nvPicPr>
          <p:cNvPr id="23" name="Image 8" descr="/home/claude/assets/icons/times_6B748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2472" y="2688336"/>
            <a:ext cx="201168" cy="201168"/>
          </a:xfrm>
          <a:prstGeom prst="rect">
            <a:avLst/>
          </a:prstGeom>
        </p:spPr>
      </p:pic>
      <p:pic>
        <p:nvPicPr>
          <p:cNvPr id="24" name="Image 9" descr="/home/claude/assets/icons/times_6B748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4888" y="2688336"/>
            <a:ext cx="201168" cy="201168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548640" y="3044952"/>
            <a:ext cx="7178040" cy="512064"/>
          </a:xfrm>
          <a:prstGeom prst="roundRect">
            <a:avLst>
              <a:gd name="adj" fmla="val 16071"/>
            </a:avLst>
          </a:prstGeom>
          <a:solidFill>
            <a:srgbClr val="161B2E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6" name="Text 14"/>
          <p:cNvSpPr/>
          <p:nvPr/>
        </p:nvSpPr>
        <p:spPr>
          <a:xfrm>
            <a:off x="658368" y="3044952"/>
            <a:ext cx="1856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Roadmap.sh</a:t>
            </a:r>
            <a:endParaRPr lang="en-US" sz="1050" dirty="0"/>
          </a:p>
        </p:txBody>
      </p:sp>
      <p:pic>
        <p:nvPicPr>
          <p:cNvPr id="27" name="Image 10" descr="/home/claude/assets/icons/times_6B7488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35224" y="3200400"/>
            <a:ext cx="201168" cy="201168"/>
          </a:xfrm>
          <a:prstGeom prst="rect">
            <a:avLst/>
          </a:prstGeom>
        </p:spPr>
      </p:pic>
      <p:pic>
        <p:nvPicPr>
          <p:cNvPr id="28" name="Image 11" descr="/home/claude/assets/icons/check_34D399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77640" y="3200400"/>
            <a:ext cx="201168" cy="201168"/>
          </a:xfrm>
          <a:prstGeom prst="rect">
            <a:avLst/>
          </a:prstGeom>
        </p:spPr>
      </p:pic>
      <p:pic>
        <p:nvPicPr>
          <p:cNvPr id="29" name="Image 12" descr="/home/claude/assets/icons/times_6B748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0056" y="3200400"/>
            <a:ext cx="201168" cy="201168"/>
          </a:xfrm>
          <a:prstGeom prst="rect">
            <a:avLst/>
          </a:prstGeom>
        </p:spPr>
      </p:pic>
      <p:pic>
        <p:nvPicPr>
          <p:cNvPr id="30" name="Image 13" descr="/home/claude/assets/icons/times_6B7488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62472" y="3200400"/>
            <a:ext cx="201168" cy="201168"/>
          </a:xfrm>
          <a:prstGeom prst="rect">
            <a:avLst/>
          </a:prstGeom>
        </p:spPr>
      </p:pic>
      <p:pic>
        <p:nvPicPr>
          <p:cNvPr id="31" name="Image 14" descr="/home/claude/assets/icons/times_6B7488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4888" y="3200400"/>
            <a:ext cx="201168" cy="201168"/>
          </a:xfrm>
          <a:prstGeom prst="rect">
            <a:avLst/>
          </a:prstGeom>
        </p:spPr>
      </p:pic>
      <p:sp>
        <p:nvSpPr>
          <p:cNvPr id="32" name="Shape 15"/>
          <p:cNvSpPr/>
          <p:nvPr/>
        </p:nvSpPr>
        <p:spPr>
          <a:xfrm>
            <a:off x="548640" y="3557016"/>
            <a:ext cx="7178040" cy="512064"/>
          </a:xfrm>
          <a:prstGeom prst="roundRect">
            <a:avLst>
              <a:gd name="adj" fmla="val 16071"/>
            </a:avLst>
          </a:prstGeom>
          <a:solidFill>
            <a:srgbClr val="0E1424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33" name="Text 16"/>
          <p:cNvSpPr/>
          <p:nvPr/>
        </p:nvSpPr>
        <p:spPr>
          <a:xfrm>
            <a:off x="658368" y="3557016"/>
            <a:ext cx="1856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Levels.fyi</a:t>
            </a:r>
            <a:endParaRPr lang="en-US" sz="1050" dirty="0"/>
          </a:p>
        </p:txBody>
      </p:sp>
      <p:pic>
        <p:nvPicPr>
          <p:cNvPr id="34" name="Image 15" descr="/home/claude/assets/icons/times_6B7488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35224" y="3712464"/>
            <a:ext cx="201168" cy="201168"/>
          </a:xfrm>
          <a:prstGeom prst="rect">
            <a:avLst/>
          </a:prstGeom>
        </p:spPr>
      </p:pic>
      <p:pic>
        <p:nvPicPr>
          <p:cNvPr id="35" name="Image 16" descr="/home/claude/assets/icons/times_6B7488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77640" y="3712464"/>
            <a:ext cx="201168" cy="201168"/>
          </a:xfrm>
          <a:prstGeom prst="rect">
            <a:avLst/>
          </a:prstGeom>
        </p:spPr>
      </p:pic>
      <p:pic>
        <p:nvPicPr>
          <p:cNvPr id="36" name="Image 17" descr="/home/claude/assets/icons/check_34D399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20056" y="3712464"/>
            <a:ext cx="201168" cy="201168"/>
          </a:xfrm>
          <a:prstGeom prst="rect">
            <a:avLst/>
          </a:prstGeom>
        </p:spPr>
      </p:pic>
      <p:pic>
        <p:nvPicPr>
          <p:cNvPr id="37" name="Image 18" descr="/home/claude/assets/icons/times_6B7488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62472" y="3712464"/>
            <a:ext cx="201168" cy="201168"/>
          </a:xfrm>
          <a:prstGeom prst="rect">
            <a:avLst/>
          </a:prstGeom>
        </p:spPr>
      </p:pic>
      <p:pic>
        <p:nvPicPr>
          <p:cNvPr id="38" name="Image 19" descr="/home/claude/assets/icons/times_6B7488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04888" y="3712464"/>
            <a:ext cx="201168" cy="201168"/>
          </a:xfrm>
          <a:prstGeom prst="rect">
            <a:avLst/>
          </a:prstGeom>
        </p:spPr>
      </p:pic>
      <p:sp>
        <p:nvSpPr>
          <p:cNvPr id="39" name="Shape 17"/>
          <p:cNvSpPr/>
          <p:nvPr/>
        </p:nvSpPr>
        <p:spPr>
          <a:xfrm>
            <a:off x="548640" y="4069080"/>
            <a:ext cx="7178040" cy="512064"/>
          </a:xfrm>
          <a:prstGeom prst="roundRect">
            <a:avLst>
              <a:gd name="adj" fmla="val 16071"/>
            </a:avLst>
          </a:prstGeom>
          <a:solidFill>
            <a:srgbClr val="161B2E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40" name="Text 18"/>
          <p:cNvSpPr/>
          <p:nvPr/>
        </p:nvSpPr>
        <p:spPr>
          <a:xfrm>
            <a:off x="658368" y="4069080"/>
            <a:ext cx="18562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Interviewing.io</a:t>
            </a:r>
            <a:endParaRPr lang="en-US" sz="1050" dirty="0"/>
          </a:p>
        </p:txBody>
      </p:sp>
      <p:pic>
        <p:nvPicPr>
          <p:cNvPr id="41" name="Image 20" descr="/home/claude/assets/icons/times_6B7488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35224" y="4224528"/>
            <a:ext cx="201168" cy="201168"/>
          </a:xfrm>
          <a:prstGeom prst="rect">
            <a:avLst/>
          </a:prstGeom>
        </p:spPr>
      </p:pic>
      <p:pic>
        <p:nvPicPr>
          <p:cNvPr id="42" name="Image 21" descr="/home/claude/assets/icons/times_6B7488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77640" y="4224528"/>
            <a:ext cx="201168" cy="201168"/>
          </a:xfrm>
          <a:prstGeom prst="rect">
            <a:avLst/>
          </a:prstGeom>
        </p:spPr>
      </p:pic>
      <p:pic>
        <p:nvPicPr>
          <p:cNvPr id="43" name="Image 22" descr="/home/claude/assets/icons/times_6B7488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20056" y="4224528"/>
            <a:ext cx="201168" cy="201168"/>
          </a:xfrm>
          <a:prstGeom prst="rect">
            <a:avLst/>
          </a:prstGeom>
        </p:spPr>
      </p:pic>
      <p:pic>
        <p:nvPicPr>
          <p:cNvPr id="44" name="Image 23" descr="/home/claude/assets/icons/times_6B7488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62472" y="4224528"/>
            <a:ext cx="201168" cy="201168"/>
          </a:xfrm>
          <a:prstGeom prst="rect">
            <a:avLst/>
          </a:prstGeom>
        </p:spPr>
      </p:pic>
      <p:pic>
        <p:nvPicPr>
          <p:cNvPr id="45" name="Image 24" descr="/home/claude/assets/icons/check_34D399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04888" y="4224528"/>
            <a:ext cx="201168" cy="201168"/>
          </a:xfrm>
          <a:prstGeom prst="rect">
            <a:avLst/>
          </a:prstGeom>
        </p:spPr>
      </p:pic>
      <p:sp>
        <p:nvSpPr>
          <p:cNvPr id="46" name="Shape 19"/>
          <p:cNvSpPr/>
          <p:nvPr/>
        </p:nvSpPr>
        <p:spPr>
          <a:xfrm>
            <a:off x="548640" y="4581144"/>
            <a:ext cx="7178040" cy="566928"/>
          </a:xfrm>
          <a:prstGeom prst="roundRect">
            <a:avLst>
              <a:gd name="adj" fmla="val 9677"/>
            </a:avLst>
          </a:prstGeom>
          <a:solidFill>
            <a:srgbClr val="6366F1"/>
          </a:solidFill>
          <a:ln/>
        </p:spPr>
      </p:sp>
      <p:sp>
        <p:nvSpPr>
          <p:cNvPr id="47" name="Text 20"/>
          <p:cNvSpPr/>
          <p:nvPr/>
        </p:nvSpPr>
        <p:spPr>
          <a:xfrm>
            <a:off x="658368" y="4581144"/>
            <a:ext cx="1856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1100" dirty="0"/>
          </a:p>
        </p:txBody>
      </p:sp>
      <p:pic>
        <p:nvPicPr>
          <p:cNvPr id="48" name="Image 25" descr="/home/claude/assets/icons/check_FFFFFF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26080" y="4754880"/>
            <a:ext cx="219456" cy="219456"/>
          </a:xfrm>
          <a:prstGeom prst="rect">
            <a:avLst/>
          </a:prstGeom>
        </p:spPr>
      </p:pic>
      <p:pic>
        <p:nvPicPr>
          <p:cNvPr id="49" name="Image 26" descr="/home/claude/assets/icons/check_FFFFFF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968496" y="4754880"/>
            <a:ext cx="219456" cy="219456"/>
          </a:xfrm>
          <a:prstGeom prst="rect">
            <a:avLst/>
          </a:prstGeom>
        </p:spPr>
      </p:pic>
      <p:pic>
        <p:nvPicPr>
          <p:cNvPr id="50" name="Image 27" descr="/home/claude/assets/icons/check_FFFFFF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010912" y="4754880"/>
            <a:ext cx="219456" cy="219456"/>
          </a:xfrm>
          <a:prstGeom prst="rect">
            <a:avLst/>
          </a:prstGeom>
        </p:spPr>
      </p:pic>
      <p:pic>
        <p:nvPicPr>
          <p:cNvPr id="51" name="Image 28" descr="/home/claude/assets/icons/check_FFFFFF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53328" y="4754880"/>
            <a:ext cx="219456" cy="219456"/>
          </a:xfrm>
          <a:prstGeom prst="rect">
            <a:avLst/>
          </a:prstGeom>
        </p:spPr>
      </p:pic>
      <p:pic>
        <p:nvPicPr>
          <p:cNvPr id="52" name="Image 29" descr="/home/claude/assets/icons/check_FFFFFF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095744" y="4754880"/>
            <a:ext cx="219456" cy="219456"/>
          </a:xfrm>
          <a:prstGeom prst="rect">
            <a:avLst/>
          </a:prstGeom>
        </p:spPr>
      </p:pic>
      <p:sp>
        <p:nvSpPr>
          <p:cNvPr id="53" name="Text 21"/>
          <p:cNvSpPr/>
          <p:nvPr/>
        </p:nvSpPr>
        <p:spPr>
          <a:xfrm>
            <a:off x="548640" y="5239512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&amp; Open Source — the only unified-context platform.</a:t>
            </a:r>
            <a:endParaRPr lang="en-US" sz="1000" dirty="0"/>
          </a:p>
        </p:txBody>
      </p:sp>
      <p:sp>
        <p:nvSpPr>
          <p:cNvPr id="54" name="Text 22"/>
          <p:cNvSpPr/>
          <p:nvPr/>
        </p:nvSpPr>
        <p:spPr>
          <a:xfrm>
            <a:off x="8001000" y="1508760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ROOT CAUSES</a:t>
            </a:r>
            <a:endParaRPr lang="en-US" sz="1150" dirty="0"/>
          </a:p>
        </p:txBody>
      </p:sp>
      <p:sp>
        <p:nvSpPr>
          <p:cNvPr id="55" name="Shape 23"/>
          <p:cNvSpPr/>
          <p:nvPr/>
        </p:nvSpPr>
        <p:spPr>
          <a:xfrm>
            <a:off x="8001000" y="1847088"/>
            <a:ext cx="457200" cy="457200"/>
          </a:xfrm>
          <a:prstGeom prst="ellipse">
            <a:avLst/>
          </a:prstGeom>
          <a:solidFill>
            <a:srgbClr val="1C2340"/>
          </a:solidFill>
          <a:ln/>
        </p:spPr>
      </p:sp>
      <p:pic>
        <p:nvPicPr>
          <p:cNvPr id="56" name="Image 30" descr="/home/claude/assets/icons/key_F59E0B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19872" y="1965960"/>
            <a:ext cx="219456" cy="219456"/>
          </a:xfrm>
          <a:prstGeom prst="rect">
            <a:avLst/>
          </a:prstGeom>
        </p:spPr>
      </p:pic>
      <p:sp>
        <p:nvSpPr>
          <p:cNvPr id="57" name="Text 24"/>
          <p:cNvSpPr/>
          <p:nvPr/>
        </p:nvSpPr>
        <p:spPr>
          <a:xfrm>
            <a:off x="8604504" y="1819656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Keyword Asymmetry</a:t>
            </a:r>
            <a:endParaRPr lang="en-US" sz="1250" dirty="0"/>
          </a:p>
        </p:txBody>
      </p:sp>
      <p:sp>
        <p:nvSpPr>
          <p:cNvPr id="58" name="Text 25"/>
          <p:cNvSpPr/>
          <p:nvPr/>
        </p:nvSpPr>
        <p:spPr>
          <a:xfrm>
            <a:off x="8604504" y="2121408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candidates filtered for missing exact aliases.</a:t>
            </a:r>
            <a:endParaRPr lang="en-US" sz="1000" dirty="0"/>
          </a:p>
        </p:txBody>
      </p:sp>
      <p:sp>
        <p:nvSpPr>
          <p:cNvPr id="59" name="Shape 26"/>
          <p:cNvSpPr/>
          <p:nvPr/>
        </p:nvSpPr>
        <p:spPr>
          <a:xfrm>
            <a:off x="8001000" y="2889504"/>
            <a:ext cx="457200" cy="457200"/>
          </a:xfrm>
          <a:prstGeom prst="ellipse">
            <a:avLst/>
          </a:prstGeom>
          <a:solidFill>
            <a:srgbClr val="1C2340"/>
          </a:solidFill>
          <a:ln/>
        </p:spPr>
      </p:sp>
      <p:pic>
        <p:nvPicPr>
          <p:cNvPr id="60" name="Image 31" descr="/home/claude/assets/icons/route_F59E0B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19872" y="3008376"/>
            <a:ext cx="219456" cy="219456"/>
          </a:xfrm>
          <a:prstGeom prst="rect">
            <a:avLst/>
          </a:prstGeom>
        </p:spPr>
      </p:pic>
      <p:sp>
        <p:nvSpPr>
          <p:cNvPr id="61" name="Text 27"/>
          <p:cNvSpPr/>
          <p:nvPr/>
        </p:nvSpPr>
        <p:spPr>
          <a:xfrm>
            <a:off x="8604504" y="2862072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Generic Roadmaps</a:t>
            </a:r>
            <a:endParaRPr lang="en-US" sz="1250" dirty="0"/>
          </a:p>
        </p:txBody>
      </p:sp>
      <p:sp>
        <p:nvSpPr>
          <p:cNvPr id="62" name="Text 28"/>
          <p:cNvSpPr/>
          <p:nvPr/>
        </p:nvSpPr>
        <p:spPr>
          <a:xfrm>
            <a:off x="8604504" y="3163824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alignment to real skill gaps or local demand.</a:t>
            </a:r>
            <a:endParaRPr lang="en-US" sz="1000" dirty="0"/>
          </a:p>
        </p:txBody>
      </p:sp>
      <p:sp>
        <p:nvSpPr>
          <p:cNvPr id="63" name="Shape 29"/>
          <p:cNvSpPr/>
          <p:nvPr/>
        </p:nvSpPr>
        <p:spPr>
          <a:xfrm>
            <a:off x="8001000" y="3931920"/>
            <a:ext cx="457200" cy="457200"/>
          </a:xfrm>
          <a:prstGeom prst="ellipse">
            <a:avLst/>
          </a:prstGeom>
          <a:solidFill>
            <a:srgbClr val="1C2340"/>
          </a:solidFill>
          <a:ln/>
        </p:spPr>
      </p:sp>
      <p:pic>
        <p:nvPicPr>
          <p:cNvPr id="64" name="Image 32" descr="/home/claude/assets/icons/puzzle_F59E0B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19872" y="4050792"/>
            <a:ext cx="219456" cy="219456"/>
          </a:xfrm>
          <a:prstGeom prst="rect">
            <a:avLst/>
          </a:prstGeom>
        </p:spPr>
      </p:pic>
      <p:sp>
        <p:nvSpPr>
          <p:cNvPr id="65" name="Text 30"/>
          <p:cNvSpPr/>
          <p:nvPr/>
        </p:nvSpPr>
        <p:spPr>
          <a:xfrm>
            <a:off x="8604504" y="3904488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Tool Sprawl</a:t>
            </a:r>
            <a:endParaRPr lang="en-US" sz="1250" dirty="0"/>
          </a:p>
        </p:txBody>
      </p:sp>
      <p:sp>
        <p:nvSpPr>
          <p:cNvPr id="66" name="Text 31"/>
          <p:cNvSpPr/>
          <p:nvPr/>
        </p:nvSpPr>
        <p:spPr>
          <a:xfrm>
            <a:off x="8604504" y="420624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disconnected subscriptions, zero shared context.</a:t>
            </a:r>
            <a:endParaRPr lang="en-US" sz="1000" dirty="0"/>
          </a:p>
        </p:txBody>
      </p:sp>
      <p:sp>
        <p:nvSpPr>
          <p:cNvPr id="67" name="Shape 32"/>
          <p:cNvSpPr/>
          <p:nvPr/>
        </p:nvSpPr>
        <p:spPr>
          <a:xfrm>
            <a:off x="8001000" y="4974336"/>
            <a:ext cx="457200" cy="457200"/>
          </a:xfrm>
          <a:prstGeom prst="ellipse">
            <a:avLst/>
          </a:prstGeom>
          <a:solidFill>
            <a:srgbClr val="1C2340"/>
          </a:solidFill>
          <a:ln/>
        </p:spPr>
      </p:sp>
      <p:pic>
        <p:nvPicPr>
          <p:cNvPr id="68" name="Image 33" descr="/home/claude/assets/icons/comments_F59E0B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19872" y="5093208"/>
            <a:ext cx="219456" cy="219456"/>
          </a:xfrm>
          <a:prstGeom prst="rect">
            <a:avLst/>
          </a:prstGeom>
        </p:spPr>
      </p:pic>
      <p:sp>
        <p:nvSpPr>
          <p:cNvPr id="69" name="Text 33"/>
          <p:cNvSpPr/>
          <p:nvPr/>
        </p:nvSpPr>
        <p:spPr>
          <a:xfrm>
            <a:off x="8604504" y="4946904"/>
            <a:ext cx="3035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Context-Blind Interviews</a:t>
            </a:r>
            <a:endParaRPr lang="en-US" sz="1250" dirty="0"/>
          </a:p>
        </p:txBody>
      </p:sp>
      <p:sp>
        <p:nvSpPr>
          <p:cNvPr id="70" name="Text 34"/>
          <p:cNvSpPr/>
          <p:nvPr/>
        </p:nvSpPr>
        <p:spPr>
          <a:xfrm>
            <a:off x="8604504" y="5248656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tools don't know your actual projects.</a:t>
            </a:r>
            <a:endParaRPr lang="en-US" sz="1000" dirty="0"/>
          </a:p>
        </p:txBody>
      </p:sp>
      <p:sp>
        <p:nvSpPr>
          <p:cNvPr id="71" name="Text 3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900" dirty="0"/>
          </a:p>
        </p:txBody>
      </p:sp>
      <p:sp>
        <p:nvSpPr>
          <p:cNvPr id="72" name="Text 36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5120640"/>
            <a:ext cx="5029200" cy="50292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01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AI Career Mentor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LangGraph-orchestrated platform. Two interconnected pillars. Zero context switching.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49240" cy="3886200"/>
          </a:xfrm>
          <a:prstGeom prst="roundRect">
            <a:avLst>
              <a:gd name="adj" fmla="val 2118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9" name="Image 0" descr="/home/claude/assets/icons/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25765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112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00200" y="23317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Career Analysis Orchestrator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30175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LangGraph DAG that chains ATS auditing, RAG roadmap generation, live market scraping, and LinkedIn SEO — in ~60 seconds.</a:t>
            </a:r>
            <a:endParaRPr lang="en-US" sz="1150" dirty="0"/>
          </a:p>
        </p:txBody>
      </p:sp>
      <p:pic>
        <p:nvPicPr>
          <p:cNvPr id="13" name="Image 1" descr="/home/claude/assets/icons/file_818CF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5935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61872" y="393192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ATS Audit</a:t>
            </a:r>
            <a:endParaRPr lang="en-US" sz="1200" dirty="0"/>
          </a:p>
        </p:txBody>
      </p:sp>
      <p:pic>
        <p:nvPicPr>
          <p:cNvPr id="15" name="Image 2" descr="/home/claude/assets/icons/route_818CF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7997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435254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RAG Roadmap</a:t>
            </a:r>
            <a:endParaRPr lang="en-US" sz="1200" dirty="0"/>
          </a:p>
        </p:txBody>
      </p:sp>
      <p:pic>
        <p:nvPicPr>
          <p:cNvPr id="17" name="Image 3" descr="/home/claude/assets/icons/chart_818CF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0060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477316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Intel</a:t>
            </a:r>
            <a:endParaRPr lang="en-US" sz="1200" dirty="0"/>
          </a:p>
        </p:txBody>
      </p:sp>
      <p:pic>
        <p:nvPicPr>
          <p:cNvPr id="19" name="Image 4" descr="/home/claude/assets/icons/linkedin_818CF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2122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61872" y="519379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Optimizer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217920" y="1783080"/>
            <a:ext cx="5349240" cy="3886200"/>
          </a:xfrm>
          <a:prstGeom prst="roundRect">
            <a:avLst>
              <a:gd name="adj" fmla="val 2118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537960" y="2103120"/>
            <a:ext cx="594360" cy="59436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3" name="Image 5" descr="/home/claude/assets/icons/mic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2494" y="2257654"/>
            <a:ext cx="285293" cy="28529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269480" y="2112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7269480" y="23317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Mock Interviewer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6537960" y="30175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7-phase FSM running real-time WebSocket interviews with a live Monaco code sandbox and automated performance scorecards.</a:t>
            </a:r>
            <a:endParaRPr lang="en-US" sz="1150" dirty="0"/>
          </a:p>
        </p:txBody>
      </p:sp>
      <p:pic>
        <p:nvPicPr>
          <p:cNvPr id="27" name="Image 6" descr="/home/claude/assets/icons/sitemap_34D39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959352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31152" y="393192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FSM Engine</a:t>
            </a:r>
            <a:endParaRPr lang="en-US" sz="1200" dirty="0"/>
          </a:p>
        </p:txBody>
      </p:sp>
      <p:pic>
        <p:nvPicPr>
          <p:cNvPr id="29" name="Image 7" descr="/home/claude/assets/icons/terminal_34D39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379976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931152" y="435254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Monaco Code Sandbox</a:t>
            </a:r>
            <a:endParaRPr lang="en-US" sz="1200" dirty="0"/>
          </a:p>
        </p:txBody>
      </p:sp>
      <p:pic>
        <p:nvPicPr>
          <p:cNvPr id="31" name="Image 8" descr="/home/claude/assets/icons/mic_34D39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800600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931152" y="477316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(edge-tts)</a:t>
            </a:r>
            <a:endParaRPr lang="en-US" sz="1200" dirty="0"/>
          </a:p>
        </p:txBody>
      </p:sp>
      <p:pic>
        <p:nvPicPr>
          <p:cNvPr id="33" name="Image 9" descr="/home/claude/assets/icons/chart_34D39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5221224"/>
            <a:ext cx="256032" cy="25603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931152" y="519379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Scorecard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548640" y="5870448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0E1424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822960" y="587044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 </a:t>
            </a:r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 Minutes</a:t>
            </a:r>
            <a:pPr indent="0" marL="0">
              <a:buNone/>
            </a:pPr>
            <a:r>
              <a:rPr lang="en-US" sz="12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the entire career-prep lifecycle, automated end-to-end.</a:t>
            </a:r>
            <a:endParaRPr lang="en-US" sz="1500" dirty="0"/>
          </a:p>
        </p:txBody>
      </p:sp>
      <p:sp>
        <p:nvSpPr>
          <p:cNvPr id="37" name="Text 2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Intelligence &amp; ATS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32104" y="2148840"/>
            <a:ext cx="10497312" cy="0"/>
          </a:xfrm>
          <a:prstGeom prst="line">
            <a:avLst/>
          </a:prstGeom>
          <a:noFill/>
          <a:ln w="25400">
            <a:solidFill>
              <a:srgbClr val="262E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616" y="1865376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/home/claude/assets/icons/f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017" y="201277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2664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2578608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90088" y="1865376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0" name="Image 1" descr="/home/claude/assets/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489" y="2012777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74136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420112" y="2578608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Validation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861560" y="1865376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4" name="Image 2" descr="/home/claude/assets/icons/termina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961" y="2012777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45608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291584" y="2578608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733032" y="1865376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8" name="Image 3" descr="/home/claude/assets/icons/sca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433" y="2012777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1708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163056" y="2578608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ATS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604504" y="1865376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2" name="Image 4" descr="/home/claude/assets/icons/brai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905" y="2012777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988552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8034528" y="2578608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10475976" y="1865376"/>
            <a:ext cx="566928" cy="56692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6" name="Image 5" descr="/home/claude/assets/icons/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3377" y="2012777"/>
            <a:ext cx="272125" cy="2721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860024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9906000" y="2578608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Score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548640" y="3246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PIPELINE WORKS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548640" y="356616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PDF resume and the system extracts text, runs a deterministic ATS audit across 120+ skill aliases, then sends sanitized content to an LLM for deep skill-gap analysis — returning an ATS score, strengths, and experience breakdown in seconds.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548640" y="4846320"/>
            <a:ext cx="2642616" cy="1536192"/>
          </a:xfrm>
          <a:prstGeom prst="roundRect">
            <a:avLst>
              <a:gd name="adj" fmla="val 5357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31520" y="501091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3" name="Image 6" descr="/home/claude/assets/icons/scal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372" y="5110764"/>
            <a:ext cx="184343" cy="18434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3232" y="5468112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Skill Aliases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713232" y="576072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keyword &amp; date-range matching engine.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3355848" y="4846320"/>
            <a:ext cx="2642616" cy="1536192"/>
          </a:xfrm>
          <a:prstGeom prst="roundRect">
            <a:avLst>
              <a:gd name="adj" fmla="val 5357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3538728" y="501091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8" name="Image 7" descr="/home/claude/assets/icons/shield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8580" y="5110764"/>
            <a:ext cx="184343" cy="184343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3520440" y="5468112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PDF Validation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3520440" y="576072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→ MIME → magic bytes → 5MB size cap.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6163056" y="4846320"/>
            <a:ext cx="2642616" cy="1536192"/>
          </a:xfrm>
          <a:prstGeom prst="roundRect">
            <a:avLst>
              <a:gd name="adj" fmla="val 5357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6345936" y="501091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43" name="Image 8" descr="/home/claude/assets/icons/brain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5788" y="5110764"/>
            <a:ext cx="184343" cy="184343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327648" y="5468112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ATS + LLM Scoring</a:t>
            </a:r>
            <a:endParaRPr lang="en-US" sz="1150" dirty="0"/>
          </a:p>
        </p:txBody>
      </p:sp>
      <p:sp>
        <p:nvSpPr>
          <p:cNvPr id="45" name="Text 34"/>
          <p:cNvSpPr/>
          <p:nvPr/>
        </p:nvSpPr>
        <p:spPr>
          <a:xfrm>
            <a:off x="6327648" y="576072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score fused with semantic gap detection.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8970264" y="4846320"/>
            <a:ext cx="2642616" cy="1536192"/>
          </a:xfrm>
          <a:prstGeom prst="roundRect">
            <a:avLst>
              <a:gd name="adj" fmla="val 5357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9153144" y="5010912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48" name="Image 9" descr="/home/claude/assets/icons/exchange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2996" y="5110764"/>
            <a:ext cx="184343" cy="184343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9134856" y="5468112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Provider Fallback</a:t>
            </a:r>
            <a:endParaRPr lang="en-US" sz="1150" dirty="0"/>
          </a:p>
        </p:txBody>
      </p:sp>
      <p:sp>
        <p:nvSpPr>
          <p:cNvPr id="50" name="Text 38"/>
          <p:cNvSpPr/>
          <p:nvPr/>
        </p:nvSpPr>
        <p:spPr>
          <a:xfrm>
            <a:off x="9134856" y="576072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(primary) auto-falls back to NVIDIA NIM.</a:t>
            </a:r>
            <a:endParaRPr lang="en-US" sz="900" dirty="0"/>
          </a:p>
        </p:txBody>
      </p:sp>
      <p:sp>
        <p:nvSpPr>
          <p:cNvPr id="51" name="Text 39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900" dirty="0"/>
          </a:p>
        </p:txBody>
      </p:sp>
      <p:sp>
        <p:nvSpPr>
          <p:cNvPr id="52" name="Text 40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Market Intel &amp; LinkedIn SEO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05200" cy="4480560"/>
          </a:xfrm>
          <a:prstGeom prst="roundRect">
            <a:avLst>
              <a:gd name="adj" fmla="val 2348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47088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/home/claude/assets/icons/rou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199448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295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 Builder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41248" y="3419856"/>
            <a:ext cx="82296" cy="822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282696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syllabus personalized to skill gaps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1248" y="4078224"/>
            <a:ext cx="82296" cy="822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941064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RAG resource enrichment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" y="4736592"/>
            <a:ext cx="82296" cy="822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599432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Quality-scored YouTube, GitHub &amp; docs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41248" y="5394960"/>
            <a:ext cx="82296" cy="822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5257800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weekly AI-generated quizzes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8160" y="1554480"/>
            <a:ext cx="3505200" cy="4480560"/>
          </a:xfrm>
          <a:prstGeom prst="roundRect">
            <a:avLst>
              <a:gd name="adj" fmla="val 2348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02480" y="1847088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1" descr="/home/claude/assets/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81" y="1994489"/>
            <a:ext cx="272125" cy="2721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02480" y="2560320"/>
            <a:ext cx="295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Explorer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4620768" y="3419856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7"/>
          <p:cNvSpPr/>
          <p:nvPr/>
        </p:nvSpPr>
        <p:spPr>
          <a:xfrm>
            <a:off x="4831080" y="3282696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job board scraping (Tavily/Serper)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20768" y="4078224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19"/>
          <p:cNvSpPr/>
          <p:nvPr/>
        </p:nvSpPr>
        <p:spPr>
          <a:xfrm>
            <a:off x="4831080" y="3941064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normalized to local currency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620768" y="4736592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1"/>
          <p:cNvSpPr/>
          <p:nvPr/>
        </p:nvSpPr>
        <p:spPr>
          <a:xfrm>
            <a:off x="4831080" y="4599432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Region-aware hiring trend detection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620768" y="5394960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3"/>
          <p:cNvSpPr/>
          <p:nvPr/>
        </p:nvSpPr>
        <p:spPr>
          <a:xfrm>
            <a:off x="4831080" y="5257800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in-demand skills, ranked by frequency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107680" y="1554480"/>
            <a:ext cx="3505200" cy="4480560"/>
          </a:xfrm>
          <a:prstGeom prst="roundRect">
            <a:avLst>
              <a:gd name="adj" fmla="val 2348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82000" y="1847088"/>
            <a:ext cx="566928" cy="56692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30" name="Image 2" descr="/home/claude/assets/icons/linked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401" y="1994489"/>
            <a:ext cx="272125" cy="27212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382000" y="2560320"/>
            <a:ext cx="295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Optimizer</a:t>
            </a:r>
            <a:endParaRPr lang="en-US" sz="1550" dirty="0"/>
          </a:p>
        </p:txBody>
      </p:sp>
      <p:sp>
        <p:nvSpPr>
          <p:cNvPr id="32" name="Shape 27"/>
          <p:cNvSpPr/>
          <p:nvPr/>
        </p:nvSpPr>
        <p:spPr>
          <a:xfrm>
            <a:off x="8400288" y="341985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28"/>
          <p:cNvSpPr/>
          <p:nvPr/>
        </p:nvSpPr>
        <p:spPr>
          <a:xfrm>
            <a:off x="8610600" y="3282696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Resume-aware headline &amp; About rewriting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8400288" y="407822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5" name="Text 30"/>
          <p:cNvSpPr/>
          <p:nvPr/>
        </p:nvSpPr>
        <p:spPr>
          <a:xfrm>
            <a:off x="8610600" y="3941064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keyword injection for recruiter search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8400288" y="473659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7" name="Text 32"/>
          <p:cNvSpPr/>
          <p:nvPr/>
        </p:nvSpPr>
        <p:spPr>
          <a:xfrm>
            <a:off x="8610600" y="4599432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high-converting headline variants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400288" y="5394960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9" name="Text 34"/>
          <p:cNvSpPr/>
          <p:nvPr/>
        </p:nvSpPr>
        <p:spPr>
          <a:xfrm>
            <a:off x="8610600" y="5257800"/>
            <a:ext cx="2727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skill recommendations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Mock Interview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0607040" cy="0"/>
          </a:xfrm>
          <a:prstGeom prst="line">
            <a:avLst/>
          </a:prstGeom>
          <a:noFill/>
          <a:ln w="25400">
            <a:solidFill>
              <a:srgbClr val="262E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7373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22576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2377440" y="17373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92808" y="2322576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Theory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3767328" y="17373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2696" y="2322576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157216" y="17373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515721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72584" y="2322576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Exp.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547104" y="17373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54710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62472" y="2322576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Arch. Design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936992" y="17373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793699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52360" y="2322576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9326880" y="17373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42248" y="2322576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10716768" y="173736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1071676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32136" y="2322576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548640" y="3063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RESUME-AWARE, ROLE-ADAPTIVE, COMPANY-CALIBRATED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36499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connection, the backend loads your latest resume and injects your real projects into the interviewer's prompt. Questions adapt across 7 role categories (SWE, Data/AI, Infra, Security, Product, Gaming, Specialized) and scale difficulty by company tier — FAANG gets harder than a startup.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2642616" cy="1691640"/>
          </a:xfrm>
          <a:prstGeom prst="roundRect">
            <a:avLst>
              <a:gd name="adj" fmla="val 4865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4526280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33" name="Image 0" descr="/home/claude/assets/icons/termina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4630887"/>
            <a:ext cx="193121" cy="193121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13232" y="505663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Monaco Code Sandbox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713232" y="551383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coding challenges evaluated for correctness &amp; complexity.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355848" y="4343400"/>
            <a:ext cx="2642616" cy="1691640"/>
          </a:xfrm>
          <a:prstGeom prst="roundRect">
            <a:avLst>
              <a:gd name="adj" fmla="val 4865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538728" y="4526280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38" name="Image 1" descr="/home/claude/assets/icons/mic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335" y="4630887"/>
            <a:ext cx="193121" cy="193121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3520440" y="505663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Streaming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3520440" y="551383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synthesizes the interviewer's voice word-by-word.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163056" y="4343400"/>
            <a:ext cx="2642616" cy="1691640"/>
          </a:xfrm>
          <a:prstGeom prst="roundRect">
            <a:avLst>
              <a:gd name="adj" fmla="val 4865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345936" y="4526280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43" name="Image 2" descr="/home/claude/assets/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543" y="4630887"/>
            <a:ext cx="193121" cy="193121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327648" y="505663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Role Categories</a:t>
            </a:r>
            <a:endParaRPr lang="en-US" sz="1150" dirty="0"/>
          </a:p>
        </p:txBody>
      </p:sp>
      <p:sp>
        <p:nvSpPr>
          <p:cNvPr id="45" name="Text 40"/>
          <p:cNvSpPr/>
          <p:nvPr/>
        </p:nvSpPr>
        <p:spPr>
          <a:xfrm>
            <a:off x="6327648" y="551383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SWE, Data/AI, Infra/Cloud, Security, Product, Gaming, Specialized.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8970264" y="4343400"/>
            <a:ext cx="2642616" cy="1691640"/>
          </a:xfrm>
          <a:prstGeom prst="roundRect">
            <a:avLst>
              <a:gd name="adj" fmla="val 4865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9153144" y="4526280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48" name="Image 3" descr="/home/claude/assets/icons/sca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751" y="4630887"/>
            <a:ext cx="193121" cy="193121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9134856" y="505663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Company-Tier Difficulty</a:t>
            </a:r>
            <a:endParaRPr lang="en-US" sz="1150" dirty="0"/>
          </a:p>
        </p:txBody>
      </p:sp>
      <p:sp>
        <p:nvSpPr>
          <p:cNvPr id="50" name="Text 44"/>
          <p:cNvSpPr/>
          <p:nvPr/>
        </p:nvSpPr>
        <p:spPr>
          <a:xfrm>
            <a:off x="9134856" y="5513832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GCA, Amazon LP &amp; Microsoft AZ-style question sets.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05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 —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09344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/home/claude/assets/icons/termina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2821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657600" y="150876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TypeScript · Monaco Editor · Tailwind CSS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295144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395728"/>
            <a:ext cx="457200" cy="457200"/>
          </a:xfrm>
          <a:prstGeom prst="ellipse">
            <a:avLst/>
          </a:prstGeom>
          <a:solidFill>
            <a:srgbClr val="818CF8"/>
          </a:solidFill>
          <a:ln/>
        </p:spPr>
      </p:sp>
      <p:pic>
        <p:nvPicPr>
          <p:cNvPr id="11" name="Image 1" descr="/home/claude/assets/icons/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146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29514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57600" y="22951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ASGI · CORS · SlowAPI Rate Limiting · JWT Auth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081528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18211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6" name="Image 2" descr="/home/claude/assets/icons/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0098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8152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657600" y="308152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Parallel DAG · 7-Phase FSM · ChromaDB RAG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67912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96849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/home/claude/assets/icons/networ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8736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86791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3657600" y="386791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3.3 70B) · Cerebras (GPT-OSS 120B) · OpenRouter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654296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4754880"/>
            <a:ext cx="457200" cy="457200"/>
          </a:xfrm>
          <a:prstGeom prst="ellipse">
            <a:avLst/>
          </a:prstGeom>
          <a:solidFill>
            <a:srgbClr val="F0575F"/>
          </a:solidFill>
          <a:ln/>
        </p:spPr>
      </p:sp>
      <p:pic>
        <p:nvPicPr>
          <p:cNvPr id="26" name="Image 4" descr="/home/claude/assets/icons/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8737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65429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657600" y="4654296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 · Upstash Redis · PgBouncer Pooling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56052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48640" y="5897880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0E1424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48640" y="589788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1664208" y="5897880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0E1424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1664208" y="589788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2779776" y="5897880"/>
            <a:ext cx="746150" cy="365760"/>
          </a:xfrm>
          <a:prstGeom prst="roundRect">
            <a:avLst>
              <a:gd name="adj" fmla="val 50000"/>
            </a:avLst>
          </a:prstGeom>
          <a:solidFill>
            <a:srgbClr val="0E1424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2779776" y="5897880"/>
            <a:ext cx="746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3653942" y="5897880"/>
            <a:ext cx="907085" cy="365760"/>
          </a:xfrm>
          <a:prstGeom prst="roundRect">
            <a:avLst>
              <a:gd name="adj" fmla="val 50000"/>
            </a:avLst>
          </a:prstGeom>
          <a:solidFill>
            <a:srgbClr val="0E1424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653942" y="5897880"/>
            <a:ext cx="907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4689043" y="5897880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0E1424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689043" y="589788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5804611" y="5897880"/>
            <a:ext cx="585216" cy="365760"/>
          </a:xfrm>
          <a:prstGeom prst="roundRect">
            <a:avLst>
              <a:gd name="adj" fmla="val 50000"/>
            </a:avLst>
          </a:prstGeom>
          <a:solidFill>
            <a:srgbClr val="0E1424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804611" y="589788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6517843" y="5897880"/>
            <a:ext cx="826618" cy="365760"/>
          </a:xfrm>
          <a:prstGeom prst="roundRect">
            <a:avLst>
              <a:gd name="adj" fmla="val 50000"/>
            </a:avLst>
          </a:prstGeom>
          <a:solidFill>
            <a:srgbClr val="0E1424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517843" y="5897880"/>
            <a:ext cx="82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7472477" y="5897880"/>
            <a:ext cx="665683" cy="365760"/>
          </a:xfrm>
          <a:prstGeom prst="roundRect">
            <a:avLst>
              <a:gd name="adj" fmla="val 50000"/>
            </a:avLst>
          </a:prstGeom>
          <a:solidFill>
            <a:srgbClr val="0E1424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472477" y="5897880"/>
            <a:ext cx="665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8266176" y="5897880"/>
            <a:ext cx="1309421" cy="365760"/>
          </a:xfrm>
          <a:prstGeom prst="roundRect">
            <a:avLst>
              <a:gd name="adj" fmla="val 50000"/>
            </a:avLst>
          </a:prstGeom>
          <a:solidFill>
            <a:srgbClr val="0E1424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8266176" y="5897880"/>
            <a:ext cx="13094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9703613" y="5897880"/>
            <a:ext cx="1068019" cy="365760"/>
          </a:xfrm>
          <a:prstGeom prst="roundRect">
            <a:avLst>
              <a:gd name="adj" fmla="val 50000"/>
            </a:avLst>
          </a:prstGeom>
          <a:solidFill>
            <a:srgbClr val="0E1424"/>
          </a:solidFill>
          <a:ln w="9525">
            <a:solidFill>
              <a:srgbClr val="262E4D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9703613" y="5897880"/>
            <a:ext cx="10680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950" dirty="0"/>
          </a:p>
        </p:txBody>
      </p:sp>
      <p:sp>
        <p:nvSpPr>
          <p:cNvPr id="50" name="Text 43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·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Transforms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92224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/home/claude/assets/icons/gradc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192536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CS Graduates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46888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70" b="1" dirty="0">
                <a:solidFill>
                  <a:srgbClr val="F0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 </a:t>
            </a:r>
            <a:pPr indent="0" marL="0">
              <a:lnSpc>
                <a:spcPct val="125000"/>
              </a:lnSpc>
              <a:buNone/>
            </a:pPr>
            <a:r>
              <a:rPr lang="en-US" sz="107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fundamentals, but rejected by ATS screening.
</a:t>
            </a:r>
            <a:pPr indent="0" marL="0">
              <a:lnSpc>
                <a:spcPct val="125000"/>
              </a:lnSpc>
              <a:buNone/>
            </a:pPr>
            <a:r>
              <a:rPr lang="en-US" sz="107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25000"/>
              </a:lnSpc>
              <a:buNone/>
            </a:pPr>
            <a:r>
              <a:rPr lang="en-US" sz="107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ATS audit + 8-week actionable syllabus.</a:t>
            </a:r>
            <a:endParaRPr lang="en-US" sz="107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3952" y="1792224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1" name="Image 1" descr="/home/claude/assets/icons/termina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089" y="192536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&amp; Bootcamp Devs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73952" y="246888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70" b="1" dirty="0">
                <a:solidFill>
                  <a:srgbClr val="F0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 </a:t>
            </a:r>
            <a:pPr indent="0" marL="0">
              <a:lnSpc>
                <a:spcPct val="125000"/>
              </a:lnSpc>
              <a:buNone/>
            </a:pPr>
            <a:r>
              <a:rPr lang="en-US" sz="107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skills, but no production/system-design depth.
</a:t>
            </a:r>
            <a:pPr indent="0" marL="0">
              <a:lnSpc>
                <a:spcPct val="125000"/>
              </a:lnSpc>
              <a:buNone/>
            </a:pPr>
            <a:r>
              <a:rPr lang="en-US" sz="107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25000"/>
              </a:lnSpc>
              <a:buNone/>
            </a:pPr>
            <a:r>
              <a:rPr lang="en-US" sz="107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7-Phase FSM interview tests real system design &amp; CS theory.</a:t>
            </a:r>
            <a:endParaRPr lang="en-US" sz="107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41064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/home/claude/assets/icons/exchan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09" y="407420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77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461772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70" b="1" dirty="0">
                <a:solidFill>
                  <a:srgbClr val="F0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 </a:t>
            </a:r>
            <a:pPr indent="0" marL="0">
              <a:lnSpc>
                <a:spcPct val="125000"/>
              </a:lnSpc>
              <a:buNone/>
            </a:pPr>
            <a:r>
              <a:rPr lang="en-US" sz="107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translate past-domain experience into tech language.
</a:t>
            </a:r>
            <a:pPr indent="0" marL="0">
              <a:lnSpc>
                <a:spcPct val="125000"/>
              </a:lnSpc>
              <a:buNone/>
            </a:pPr>
            <a:r>
              <a:rPr lang="en-US" sz="107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25000"/>
              </a:lnSpc>
              <a:buNone/>
            </a:pPr>
            <a:r>
              <a:rPr lang="en-US" sz="107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optimizer rewrites experience with recruiter keywords.</a:t>
            </a:r>
            <a:endParaRPr lang="en-US" sz="1070" dirty="0"/>
          </a:p>
        </p:txBody>
      </p:sp>
      <p:sp>
        <p:nvSpPr>
          <p:cNvPr id="19" name="Shape 14"/>
          <p:cNvSpPr/>
          <p:nvPr/>
        </p:nvSpPr>
        <p:spPr>
          <a:xfrm>
            <a:off x="6217920" y="370332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73952" y="3941064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1" name="Image 3" descr="/home/claude/assets/icons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89" y="4074201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977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 Devs → Senior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73952" y="4617720"/>
            <a:ext cx="4882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70" b="1" dirty="0">
                <a:solidFill>
                  <a:srgbClr val="F0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  </a:t>
            </a:r>
            <a:pPr indent="0" marL="0">
              <a:lnSpc>
                <a:spcPct val="125000"/>
              </a:lnSpc>
              <a:buNone/>
            </a:pPr>
            <a:r>
              <a:rPr lang="en-US" sz="107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at a plateau, no salary transparency.
</a:t>
            </a:r>
            <a:pPr indent="0" marL="0">
              <a:lnSpc>
                <a:spcPct val="125000"/>
              </a:lnSpc>
              <a:buNone/>
            </a:pPr>
            <a:r>
              <a:rPr lang="en-US" sz="107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25000"/>
              </a:lnSpc>
              <a:buNone/>
            </a:pPr>
            <a:r>
              <a:rPr lang="en-US" sz="107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scraper gives location-aware salary benchmarks.</a:t>
            </a:r>
            <a:endParaRPr lang="en-US" sz="1070" dirty="0"/>
          </a:p>
        </p:txBody>
      </p:sp>
      <p:sp>
        <p:nvSpPr>
          <p:cNvPr id="24" name="Shape 18"/>
          <p:cNvSpPr/>
          <p:nvPr/>
        </p:nvSpPr>
        <p:spPr>
          <a:xfrm>
            <a:off x="548640" y="5779008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0E1424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577900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pPr indent="0" marL="0">
              <a:buNone/>
            </a:pPr>
            <a:r>
              <a:rPr lang="en-US" sz="12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month here   vs   </a:t>
            </a:r>
            <a:pPr indent="0" marL="0">
              <a:buNone/>
            </a:pPr>
            <a:r>
              <a:rPr lang="en-US" sz="1800" b="1" dirty="0">
                <a:solidFill>
                  <a:srgbClr val="F05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$300+</a:t>
            </a:r>
            <a:pPr indent="0" marL="0">
              <a:buNone/>
            </a:pPr>
            <a:r>
              <a:rPr lang="en-US" sz="12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month across fragmented ATS, roadmap &amp; interview-prep SaaS tools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·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&amp; Cost Advantage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298448"/>
          </a:xfrm>
          <a:prstGeom prst="roundRect">
            <a:avLst>
              <a:gd name="adj" fmla="val 6338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28216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834640" y="174650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in AI/ML role postings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24414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Ravio Compensation Data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5120640" cy="1298448"/>
          </a:xfrm>
          <a:prstGeom prst="roundRect">
            <a:avLst>
              <a:gd name="adj" fmla="val 6338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09544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322783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per open tech role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39227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Dice.com / LinkedIn Insights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4562856"/>
            <a:ext cx="5120640" cy="1298448"/>
          </a:xfrm>
          <a:prstGeom prst="roundRect">
            <a:avLst>
              <a:gd name="adj" fmla="val 6338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9087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834640" y="4709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resumes rejected before a human sees them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54041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Jobscan Hiring Insights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89320" y="160020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COST: FRAGMENTED TOOLS VS. AI CAREER MENTOR</a:t>
            </a:r>
            <a:endParaRPr lang="en-US" sz="10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989320" y="2011680"/>
          <a:ext cx="56235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989320" y="4526280"/>
            <a:ext cx="5623560" cy="1005840"/>
          </a:xfrm>
          <a:prstGeom prst="roundRect">
            <a:avLst>
              <a:gd name="adj" fmla="val 8182"/>
            </a:avLst>
          </a:prstGeom>
          <a:solidFill>
            <a:srgbClr val="0E1424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452628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Unified-Context Advantage: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resume feeds the roadmap, market data tunes the roadmap, and the interviewer asks about YOUR projects.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QUALITY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Production-Grade, Not a Prototype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35680" cy="2103120"/>
          </a:xfrm>
          <a:prstGeom prst="roundRect">
            <a:avLst>
              <a:gd name="adj" fmla="val 3913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92224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/home/claude/assets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521" y="192536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2468880"/>
            <a:ext cx="3060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Passing Tests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6384" y="285292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 across 13 files covering agents, endpoints &amp; security.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312920" y="1554480"/>
            <a:ext cx="3535680" cy="2103120"/>
          </a:xfrm>
          <a:prstGeom prst="roundRect">
            <a:avLst>
              <a:gd name="adj" fmla="val 3913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0664" y="1792224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1" name="Image 1" descr="/home/claude/assets/icons/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801" y="192536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0664" y="2468880"/>
            <a:ext cx="3060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CI/CD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50664" y="285292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lint, build, pytest &amp; pip-audit run concurrently.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077200" y="1554480"/>
            <a:ext cx="3535680" cy="2103120"/>
          </a:xfrm>
          <a:prstGeom prst="roundRect">
            <a:avLst>
              <a:gd name="adj" fmla="val 3913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14944" y="1792224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/home/claude/assets/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081" y="192536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14944" y="2468880"/>
            <a:ext cx="3060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14944" y="285292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 backend builder/runner, 3-stage frontend pipeline.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35680" cy="2103120"/>
          </a:xfrm>
          <a:prstGeom prst="roundRect">
            <a:avLst>
              <a:gd name="adj" fmla="val 3913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6384" y="4169664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1" name="Image 3" descr="/home/claude/assets/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21" y="4302801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6384" y="4846320"/>
            <a:ext cx="3060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86384" y="523036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consecutive failures trips a 300s cooldown per LLM provider.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312920" y="3931920"/>
            <a:ext cx="3535680" cy="2103120"/>
          </a:xfrm>
          <a:prstGeom prst="roundRect">
            <a:avLst>
              <a:gd name="adj" fmla="val 3913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0664" y="4169664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6" name="Image 4" descr="/home/claude/assets/icons/networ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801" y="4302801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0664" y="4846320"/>
            <a:ext cx="3060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LLM Fallback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50664" y="523036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 → Groq → OpenRouter, automatic on failure.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8077200" y="3931920"/>
            <a:ext cx="3535680" cy="2103120"/>
          </a:xfrm>
          <a:prstGeom prst="roundRect">
            <a:avLst>
              <a:gd name="adj" fmla="val 3913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14944" y="4169664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5" descr="/home/claude/assets/icons/lo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081" y="4302801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14944" y="4846320"/>
            <a:ext cx="3060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Rate Limiting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14944" y="523036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daily caps with 2–7 day cooldown gap locks.</a:t>
            </a:r>
            <a:endParaRPr lang="en-US" sz="1030" dirty="0"/>
          </a:p>
        </p:txBody>
      </p:sp>
      <p:sp>
        <p:nvSpPr>
          <p:cNvPr id="34" name="Text 26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5120640"/>
            <a:ext cx="5029200" cy="50292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WHAT'S NEXT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Recognized. Built. Ready to Scale.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938528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8" name="Image 0" descr="/home/claude/assets/icons/troph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104949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01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Dev Days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00200" y="223113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 Hackathon — Full-stack multi-agent platform submission.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1572768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2340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73952" y="1938528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3" name="Image 1" descr="/home/claude/assets/icons/troph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73" y="2104949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8013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AI Challenge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269480" y="223113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 Hackathon — Career OS built on Nova &amp; Groq inference.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PROJECT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3584448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0E1424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3785616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2" descr="/home/claude/assets/icons/rock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" y="3894978"/>
            <a:ext cx="201900" cy="201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730752"/>
            <a:ext cx="2575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749808" y="4242816"/>
            <a:ext cx="3133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ai-career-mentor-anil.vercel.app</a:t>
            </a:r>
            <a:endParaRPr lang="en-US" sz="930" dirty="0"/>
          </a:p>
        </p:txBody>
      </p:sp>
      <p:sp>
        <p:nvSpPr>
          <p:cNvPr id="22" name="Shape 17"/>
          <p:cNvSpPr/>
          <p:nvPr/>
        </p:nvSpPr>
        <p:spPr>
          <a:xfrm>
            <a:off x="4312920" y="3584448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0E1424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14088" y="3785616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4" name="Image 3" descr="/home/claude/assets/icons/termina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450" y="3894978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90160" y="3730752"/>
            <a:ext cx="2575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14088" y="4242816"/>
            <a:ext cx="3133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ai-career-mentor-rrpu.onrender.com/docs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8077200" y="3584448"/>
            <a:ext cx="3535680" cy="1051560"/>
          </a:xfrm>
          <a:prstGeom prst="roundRect">
            <a:avLst>
              <a:gd name="adj" fmla="val 7826"/>
            </a:avLst>
          </a:prstGeom>
          <a:solidFill>
            <a:srgbClr val="0E1424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278368" y="3785616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9" name="Image 4" descr="/home/claude/assets/icons/github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730" y="3894978"/>
            <a:ext cx="201900" cy="2019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854440" y="3730752"/>
            <a:ext cx="2575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278368" y="4242816"/>
            <a:ext cx="31333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github.com/Anil-Pradhan-web/ai-career-mentor</a:t>
            </a:r>
            <a:endParaRPr lang="en-US" sz="930" dirty="0"/>
          </a:p>
        </p:txBody>
      </p:sp>
      <p:sp>
        <p:nvSpPr>
          <p:cNvPr id="32" name="Shape 25"/>
          <p:cNvSpPr/>
          <p:nvPr/>
        </p:nvSpPr>
        <p:spPr>
          <a:xfrm>
            <a:off x="548640" y="4956048"/>
            <a:ext cx="11064240" cy="1298448"/>
          </a:xfrm>
          <a:prstGeom prst="roundRect">
            <a:avLst>
              <a:gd name="adj" fmla="val 6338"/>
            </a:avLst>
          </a:prstGeom>
          <a:solidFill>
            <a:srgbClr val="0E1424"/>
          </a:solidFill>
          <a:ln w="12700">
            <a:solidFill>
              <a:srgbClr val="262E4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868680" y="5102352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4" name="Text 27"/>
          <p:cNvSpPr/>
          <p:nvPr/>
        </p:nvSpPr>
        <p:spPr>
          <a:xfrm>
            <a:off x="868680" y="5669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Pradhan  ·  AI Systems Engineer &amp; Backend Builder  ·  github.com/Anil-Pradhan-web</a:t>
            </a:r>
            <a:endParaRPr lang="en-US" sz="1200" dirty="0"/>
          </a:p>
        </p:txBody>
      </p:sp>
      <p:pic>
        <p:nvPicPr>
          <p:cNvPr id="35" name="Image 5" descr="/home/claude/assets/icons/star_F59E0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5285232"/>
            <a:ext cx="420624" cy="420624"/>
          </a:xfrm>
          <a:prstGeom prst="rect">
            <a:avLst/>
          </a:prstGeom>
        </p:spPr>
      </p:pic>
      <p:pic>
        <p:nvPicPr>
          <p:cNvPr id="36" name="Image 6" descr="/home/claude/assets/icons/star_F59E0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1592" y="5285232"/>
            <a:ext cx="420624" cy="420624"/>
          </a:xfrm>
          <a:prstGeom prst="rect">
            <a:avLst/>
          </a:prstGeom>
        </p:spPr>
      </p:pic>
      <p:pic>
        <p:nvPicPr>
          <p:cNvPr id="37" name="Image 7" descr="/home/claude/assets/icons/star_F59E0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6224" y="5285232"/>
            <a:ext cx="420624" cy="42062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48640" y="65288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MENTOR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0881360" y="65288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2026-08-05T18:26:45Z</dcterms:created>
  <dcterms:modified xsi:type="dcterms:W3CDTF">2026-08-05T18:26:45Z</dcterms:modified>
</cp:coreProperties>
</file>